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c8dabcf88_1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c8dabcf88_1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e1a248cd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e1a248cd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d8eca060_0_81:notes"/>
          <p:cNvSpPr/>
          <p:nvPr>
            <p:ph idx="2" type="sldImg"/>
          </p:nvPr>
        </p:nvSpPr>
        <p:spPr>
          <a:xfrm>
            <a:off x="418004" y="685250"/>
            <a:ext cx="60237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9ad8eca060_0_81:notes"/>
          <p:cNvSpPr txBox="1"/>
          <p:nvPr>
            <p:ph idx="1" type="body"/>
          </p:nvPr>
        </p:nvSpPr>
        <p:spPr>
          <a:xfrm>
            <a:off x="913784" y="4344336"/>
            <a:ext cx="5030400" cy="4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50" spcFirstLastPara="1" rIns="90950" wrap="square" tIns="45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ESC expanded to Europe (Valence, Grenoble INP) MENA (Abu Dhabi), Asia (IIT K). Please volunteer, participate and contribute to the global effort in hardware security benchmarking. </a:t>
            </a: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We have seen this is a good way to engage students in hardware design and debug and cyber security in particular.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rtl="0" algn="l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Many follow on games have been organized.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1. J Rajendran TAMU leads the HACK@ events.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2. NYU MAE Professor leads the Hack3D focusing on digital manufacturing.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3. Logic Locking to thwart IP theft is another sequence of h/w security challenges that use ESC platform.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4. AI-based Hardware attack challenge is another sequence of 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h/w security challenges that use ESC platform.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t/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6" name="Google Shape;136;g39ad8eca060_0_81:notes"/>
          <p:cNvSpPr txBox="1"/>
          <p:nvPr>
            <p:ph idx="12" type="sldNum"/>
          </p:nvPr>
        </p:nvSpPr>
        <p:spPr>
          <a:xfrm>
            <a:off x="3886664" y="8687113"/>
            <a:ext cx="2971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800" spcFirstLastPara="1" rIns="18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1"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d8eca060_0_88:notes"/>
          <p:cNvSpPr/>
          <p:nvPr>
            <p:ph idx="2" type="sldImg"/>
          </p:nvPr>
        </p:nvSpPr>
        <p:spPr>
          <a:xfrm>
            <a:off x="418004" y="685250"/>
            <a:ext cx="60237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9ad8eca060_0_88:notes"/>
          <p:cNvSpPr txBox="1"/>
          <p:nvPr>
            <p:ph idx="1" type="body"/>
          </p:nvPr>
        </p:nvSpPr>
        <p:spPr>
          <a:xfrm>
            <a:off x="913784" y="4344336"/>
            <a:ext cx="5030400" cy="4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50" spcFirstLastPara="1" rIns="90950" wrap="square" tIns="45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ESC expanded to Europe (Valence, Grenoble INP) MENA (Abu Dhabi), Asia (IIT K). Please volunteer, participate and contribute to the global effort in hardware security benchmarking. </a:t>
            </a: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We have seen this is a good way to engage students in hardware design and debug and cyber security in particular.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rtl="0" algn="l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Many follow on games have been organized.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1. J Rajendran TAMU leads the HACK@ events.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2. NYU MAE Professor leads the Hack3D focusing on digital manufacturing.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3. Logic Locking to thwart IP theft is another sequence of h/w security challenges that use ESC platform.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4. AI-based Hardware attack challenge is another sequence of 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h/w security challenges that use ESC platform.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t/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4" name="Google Shape;144;g39ad8eca060_0_88:notes"/>
          <p:cNvSpPr txBox="1"/>
          <p:nvPr>
            <p:ph idx="12" type="sldNum"/>
          </p:nvPr>
        </p:nvSpPr>
        <p:spPr>
          <a:xfrm>
            <a:off x="3886664" y="8687113"/>
            <a:ext cx="2971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800" spcFirstLastPara="1" rIns="18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1"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d8eca060_0_95:notes"/>
          <p:cNvSpPr/>
          <p:nvPr>
            <p:ph idx="2" type="sldImg"/>
          </p:nvPr>
        </p:nvSpPr>
        <p:spPr>
          <a:xfrm>
            <a:off x="418004" y="685250"/>
            <a:ext cx="60237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39ad8eca060_0_95:notes"/>
          <p:cNvSpPr txBox="1"/>
          <p:nvPr>
            <p:ph idx="1" type="body"/>
          </p:nvPr>
        </p:nvSpPr>
        <p:spPr>
          <a:xfrm>
            <a:off x="913784" y="4344336"/>
            <a:ext cx="5030400" cy="4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50" spcFirstLastPara="1" rIns="90950" wrap="square" tIns="45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ESC expanded to Europe (Valence, Grenoble INP) MENA (Abu Dhabi), Asia (IIT K). Please volunteer, participate and contribute to the global effort in hardware security benchmarking. </a:t>
            </a: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We have seen this is a good way to engage students in hardware design and debug and cyber security in particular.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rtl="0" algn="l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Many follow on games have been organized.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1. J Rajendran TAMU leads the HACK@ events.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2. NYU MAE Professor leads the Hack3D focusing on digital manufacturing.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3. Logic Locking to thwart IP theft is another sequence of h/w security challenges that use ESC platform.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rPr lang="en-GB" sz="1400">
                <a:latin typeface="Calibri"/>
                <a:ea typeface="Calibri"/>
                <a:cs typeface="Calibri"/>
                <a:sym typeface="Calibri"/>
              </a:rPr>
              <a:t>4. AI-based Hardware attack challenge is another sequence of 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h/w security challenges that use ESC platform.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93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Char char="•"/>
            </a:pPr>
            <a:r>
              <a:t/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52" name="Google Shape;152;g39ad8eca060_0_95:notes"/>
          <p:cNvSpPr txBox="1"/>
          <p:nvPr>
            <p:ph idx="12" type="sldNum"/>
          </p:nvPr>
        </p:nvSpPr>
        <p:spPr>
          <a:xfrm>
            <a:off x="3886664" y="8687113"/>
            <a:ext cx="2971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800" spcFirstLastPara="1" rIns="18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i="1" lang="en-GB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i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1a248cd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1a248c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1a248cd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1a248cd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1a248cd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e1a248cd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e1a248cd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e1a248cd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e1a248cd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e1a248cd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e1a248c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e1a248c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e1a248cd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e1a248cd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0" y="624875"/>
            <a:ext cx="8520600" cy="792600"/>
          </a:xfrm>
          <a:prstGeom prst="rect">
            <a:avLst/>
          </a:prstGeom>
          <a:solidFill>
            <a:srgbClr val="57068C"/>
          </a:solidFill>
          <a:ln cap="flat" cmpd="sng" w="9525">
            <a:solidFill>
              <a:srgbClr val="570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Verdana"/>
              <a:buNone/>
              <a:defRPr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1889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erdana"/>
              <a:buNone/>
              <a:defRPr sz="2400"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0" y="-15950"/>
            <a:ext cx="9144000" cy="486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68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8253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8253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87895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12"/>
          <p:cNvSpPr/>
          <p:nvPr/>
        </p:nvSpPr>
        <p:spPr>
          <a:xfrm>
            <a:off x="0" y="-15950"/>
            <a:ext cx="9144000" cy="486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b="0"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720612"/>
            <a:ext cx="8520600" cy="3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1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1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1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1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1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1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1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1000"/>
              </a:spcBef>
              <a:spcAft>
                <a:spcPts val="1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200024" y="171450"/>
            <a:ext cx="875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185737" y="914400"/>
            <a:ext cx="87726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>
            <a:lvl1pPr indent="-406400" lvl="0" marL="457200" algn="l">
              <a:lnSpc>
                <a:spcPct val="125000"/>
              </a:lnSpc>
              <a:spcBef>
                <a:spcPts val="56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Calibri"/>
              <a:buChar char="●"/>
              <a:defRPr b="1">
                <a:solidFill>
                  <a:srgbClr val="FFFF00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>
                <a:solidFill>
                  <a:srgbClr val="FFFFFF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2" type="sldNum"/>
          </p:nvPr>
        </p:nvSpPr>
        <p:spPr>
          <a:xfrm>
            <a:off x="8429625" y="4822031"/>
            <a:ext cx="714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90909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4" name="Google Shape;1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96016" y="0"/>
            <a:ext cx="251991" cy="361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457200" y="205978"/>
            <a:ext cx="8229600" cy="43887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6025" lIns="92075" spcFirstLastPara="1" rIns="92075" wrap="square" tIns="46025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0" type="dt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6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-7974"/>
            <a:ext cx="9144000" cy="439800"/>
          </a:xfrm>
          <a:prstGeom prst="rect">
            <a:avLst/>
          </a:prstGeom>
          <a:solidFill>
            <a:srgbClr val="57068C"/>
          </a:solidFill>
          <a:ln cap="flat" cmpd="sng" w="19050">
            <a:solidFill>
              <a:srgbClr val="570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879125"/>
            <a:ext cx="9144000" cy="264300"/>
          </a:xfrm>
          <a:prstGeom prst="rect">
            <a:avLst/>
          </a:prstGeom>
          <a:solidFill>
            <a:srgbClr val="57068C"/>
          </a:solidFill>
          <a:ln cap="flat" cmpd="sng" w="19050">
            <a:solidFill>
              <a:srgbClr val="570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Verdana"/>
              <a:buNone/>
              <a:defRPr sz="2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11700" y="6693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rgbClr val="FFFFFF"/>
                </a:solidFill>
              </a:defRPr>
            </a:lvl1pPr>
            <a:lvl2pPr lvl="1" algn="r">
              <a:buNone/>
              <a:defRPr sz="1000">
                <a:solidFill>
                  <a:srgbClr val="FFFFFF"/>
                </a:solidFill>
              </a:defRPr>
            </a:lvl2pPr>
            <a:lvl3pPr lvl="2" algn="r">
              <a:buNone/>
              <a:defRPr sz="1000">
                <a:solidFill>
                  <a:srgbClr val="FFFFFF"/>
                </a:solidFill>
              </a:defRPr>
            </a:lvl3pPr>
            <a:lvl4pPr lvl="3" algn="r">
              <a:buNone/>
              <a:defRPr sz="1000">
                <a:solidFill>
                  <a:srgbClr val="FFFFFF"/>
                </a:solidFill>
              </a:defRPr>
            </a:lvl4pPr>
            <a:lvl5pPr lvl="4" algn="r">
              <a:buNone/>
              <a:defRPr sz="1000">
                <a:solidFill>
                  <a:srgbClr val="FFFFFF"/>
                </a:solidFill>
              </a:defRPr>
            </a:lvl5pPr>
            <a:lvl6pPr lvl="5" algn="r">
              <a:buNone/>
              <a:defRPr sz="1000">
                <a:solidFill>
                  <a:srgbClr val="FFFFFF"/>
                </a:solidFill>
              </a:defRPr>
            </a:lvl6pPr>
            <a:lvl7pPr lvl="6" algn="r">
              <a:buNone/>
              <a:defRPr sz="1000">
                <a:solidFill>
                  <a:srgbClr val="FFFFFF"/>
                </a:solidFill>
              </a:defRPr>
            </a:lvl7pPr>
            <a:lvl8pPr lvl="7" algn="r">
              <a:buNone/>
              <a:defRPr sz="1000">
                <a:solidFill>
                  <a:srgbClr val="FFFFFF"/>
                </a:solidFill>
              </a:defRPr>
            </a:lvl8pPr>
            <a:lvl9pPr lvl="8" algn="r"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902500" y="4879200"/>
            <a:ext cx="3339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ourier New"/>
              <a:buNone/>
              <a:defRPr b="1" sz="2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720612"/>
            <a:ext cx="8520600" cy="3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ctrTitle"/>
          </p:nvPr>
        </p:nvSpPr>
        <p:spPr>
          <a:xfrm>
            <a:off x="0" y="0"/>
            <a:ext cx="9144000" cy="1417500"/>
          </a:xfrm>
          <a:prstGeom prst="rect">
            <a:avLst/>
          </a:prstGeom>
          <a:ln cap="flat" cmpd="sng" w="9525">
            <a:solidFill>
              <a:srgbClr val="570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chemeClr val="lt1"/>
                </a:solidFill>
              </a:rPr>
              <a:t>AI Hardware Attack Challenge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" name="Google Shape;116;p27"/>
          <p:cNvSpPr txBox="1"/>
          <p:nvPr/>
        </p:nvSpPr>
        <p:spPr>
          <a:xfrm>
            <a:off x="2205900" y="4263600"/>
            <a:ext cx="4732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17" name="Google Shape;117;p27" title="Screenshot 2025-10-12 at 4.37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450" y="1624563"/>
            <a:ext cx="4803102" cy="243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1434325"/>
            <a:ext cx="3857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8" title="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63" y="19109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idx="1" type="body"/>
          </p:nvPr>
        </p:nvSpPr>
        <p:spPr>
          <a:xfrm>
            <a:off x="311700" y="68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Using generative AI, insert Trojans into hardware designs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You cannot write any of your own HDL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You must be able to show the Trojan being used in a simulation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You can attack any open-source hardware design</a:t>
            </a:r>
            <a:endParaRPr/>
          </a:p>
        </p:txBody>
      </p:sp>
      <p:sp>
        <p:nvSpPr>
          <p:cNvPr id="131" name="Google Shape;131;p29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Original Challenge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0" y="42509"/>
            <a:ext cx="66453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Lowering the Bar: LLMs as Copilots for Hackers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39" name="Google Shape;139;p30" title="Screenshot 2025-10-12 at 4.42.28 PM.png"/>
          <p:cNvPicPr preferRelativeResize="0"/>
          <p:nvPr/>
        </p:nvPicPr>
        <p:blipFill rotWithShape="1">
          <a:blip r:embed="rId3">
            <a:alphaModFix/>
          </a:blip>
          <a:srcRect b="0" l="0" r="0" t="3325"/>
          <a:stretch/>
        </p:blipFill>
        <p:spPr>
          <a:xfrm>
            <a:off x="564559" y="594590"/>
            <a:ext cx="8205399" cy="44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6697" y="-12"/>
            <a:ext cx="1925487" cy="46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697" y="-12"/>
            <a:ext cx="1925487" cy="46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1" title="Screenshot 2025-10-12 at 4.43.22 PM.png"/>
          <p:cNvPicPr preferRelativeResize="0"/>
          <p:nvPr/>
        </p:nvPicPr>
        <p:blipFill rotWithShape="1">
          <a:blip r:embed="rId4">
            <a:alphaModFix/>
          </a:blip>
          <a:srcRect b="0" l="1429" r="0" t="0"/>
          <a:stretch/>
        </p:blipFill>
        <p:spPr>
          <a:xfrm rot="5400000">
            <a:off x="2443800" y="-1590700"/>
            <a:ext cx="4388975" cy="90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1"/>
          <p:cNvSpPr txBox="1"/>
          <p:nvPr>
            <p:ph type="title"/>
          </p:nvPr>
        </p:nvSpPr>
        <p:spPr>
          <a:xfrm>
            <a:off x="0" y="74381"/>
            <a:ext cx="68580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Lowering the Bar: LLMs as Copilots for Hackers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6697" y="-12"/>
            <a:ext cx="1925487" cy="46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2" title="Screenshot 2025-10-12 at 4.43.36 PM.png"/>
          <p:cNvPicPr preferRelativeResize="0"/>
          <p:nvPr/>
        </p:nvPicPr>
        <p:blipFill rotWithShape="1">
          <a:blip r:embed="rId4">
            <a:alphaModFix/>
          </a:blip>
          <a:srcRect b="0" l="2420" r="1147" t="0"/>
          <a:stretch/>
        </p:blipFill>
        <p:spPr>
          <a:xfrm rot="5400000">
            <a:off x="2313443" y="-1636287"/>
            <a:ext cx="4463364" cy="90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 txBox="1"/>
          <p:nvPr>
            <p:ph type="title"/>
          </p:nvPr>
        </p:nvSpPr>
        <p:spPr>
          <a:xfrm>
            <a:off x="0" y="53136"/>
            <a:ext cx="66453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Lowering the Bar: LLMs as Copilots for Hackers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idx="1" type="body"/>
          </p:nvPr>
        </p:nvSpPr>
        <p:spPr>
          <a:xfrm>
            <a:off x="311700" y="68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Using GHOST, automatically insert hardware Trojans in these challenges</a:t>
            </a:r>
            <a:endParaRPr/>
          </a:p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33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Your</a:t>
            </a:r>
            <a:r>
              <a:rPr lang="en-GB"/>
              <a:t> Challenge</a:t>
            </a:r>
            <a:endParaRPr/>
          </a:p>
        </p:txBody>
      </p:sp>
      <p:pic>
        <p:nvPicPr>
          <p:cNvPr id="164" name="Google Shape;1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88" y="1274775"/>
            <a:ext cx="8579025" cy="14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171" y="2943025"/>
            <a:ext cx="8549667" cy="14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idx="1" type="body"/>
          </p:nvPr>
        </p:nvSpPr>
        <p:spPr>
          <a:xfrm>
            <a:off x="311700" y="68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 1</a:t>
            </a:r>
            <a:endParaRPr/>
          </a:p>
        </p:txBody>
      </p:sp>
      <p:pic>
        <p:nvPicPr>
          <p:cNvPr id="173" name="Google Shape;1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438" y="1400173"/>
            <a:ext cx="7881126" cy="24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>
            <p:ph idx="1" type="body"/>
          </p:nvPr>
        </p:nvSpPr>
        <p:spPr>
          <a:xfrm>
            <a:off x="311700" y="68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challenge for GHOST: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Denial of Service (DoS) Trojan:</a:t>
            </a:r>
            <a:br>
              <a:rPr lang="en-GB"/>
            </a:br>
            <a:r>
              <a:rPr lang="en-GB"/>
              <a:t>- Using GHOST, create a denial of service Trojan that completely halts the AES core after 862 encryptions have been performed</a:t>
            </a:r>
            <a:endParaRPr/>
          </a:p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35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36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 2</a:t>
            </a:r>
            <a:endParaRPr/>
          </a:p>
        </p:txBody>
      </p:sp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311" y="763200"/>
            <a:ext cx="7295374" cy="25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" type="body"/>
          </p:nvPr>
        </p:nvSpPr>
        <p:spPr>
          <a:xfrm>
            <a:off x="311700" y="689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challenge for GHOST: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Change of functionality Trojan:</a:t>
            </a:r>
            <a:br>
              <a:rPr lang="en-GB"/>
            </a:br>
            <a:r>
              <a:rPr lang="en-GB"/>
              <a:t>- After the UART receives the byte </a:t>
            </a:r>
            <a:r>
              <a:rPr b="1" lang="en-GB"/>
              <a:t>0xaf</a:t>
            </a:r>
            <a:r>
              <a:rPr lang="en-GB"/>
              <a:t> three times, it should then always write the byte to the data register in reverse</a:t>
            </a:r>
            <a:endParaRPr/>
          </a:p>
        </p:txBody>
      </p:sp>
      <p:sp>
        <p:nvSpPr>
          <p:cNvPr id="193" name="Google Shape;193;p37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37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311700" y="689675"/>
            <a:ext cx="8520600" cy="40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Due: </a:t>
            </a:r>
            <a:r>
              <a:rPr b="1" lang="en-GB"/>
              <a:t>25 November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Must submit the following:</a:t>
            </a:r>
            <a:br>
              <a:rPr lang="en-GB"/>
            </a:br>
            <a:r>
              <a:rPr lang="en-GB"/>
              <a:t>- A report which contains:</a:t>
            </a:r>
            <a:br>
              <a:rPr lang="en-GB"/>
            </a:br>
            <a:r>
              <a:rPr lang="en-GB"/>
              <a:t>	- Explanations of how each Trojan works</a:t>
            </a:r>
            <a:br>
              <a:rPr lang="en-GB"/>
            </a:br>
            <a:r>
              <a:rPr lang="en-GB"/>
              <a:t>	- How you tested each Trojan</a:t>
            </a:r>
            <a:br>
              <a:rPr lang="en-GB"/>
            </a:br>
            <a:r>
              <a:rPr lang="en-GB"/>
              <a:t>	- Any troubleshooting steps you needed to take with GHOST</a:t>
            </a:r>
            <a:br>
              <a:rPr lang="en-GB"/>
            </a:br>
            <a:r>
              <a:rPr lang="en-GB"/>
              <a:t>	- Full logs of all interactions with LLMs</a:t>
            </a:r>
            <a:br>
              <a:rPr lang="en-GB"/>
            </a:br>
            <a:r>
              <a:rPr lang="en-GB"/>
              <a:t>- All modified RTL</a:t>
            </a:r>
            <a:br>
              <a:rPr lang="en-GB"/>
            </a:br>
            <a:r>
              <a:rPr lang="en-GB"/>
              <a:t>- Testbenches used to check the Trojans</a:t>
            </a:r>
            <a:endParaRPr/>
          </a:p>
        </p:txBody>
      </p:sp>
      <p:sp>
        <p:nvSpPr>
          <p:cNvPr id="200" name="Google Shape;200;p38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38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Submission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idx="12" type="sldNum"/>
          </p:nvPr>
        </p:nvSpPr>
        <p:spPr>
          <a:xfrm>
            <a:off x="8595300" y="4879200"/>
            <a:ext cx="548700" cy="2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0"/>
            <a:ext cx="8520600" cy="4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Challenge</a:t>
            </a:r>
            <a:endParaRPr/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75" y="1197574"/>
            <a:ext cx="8104251" cy="20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oA-Hammond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